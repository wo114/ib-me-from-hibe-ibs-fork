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360" r:id="rId2"/>
    <p:sldId id="415" r:id="rId3"/>
    <p:sldId id="416" r:id="rId4"/>
    <p:sldId id="417" r:id="rId5"/>
    <p:sldId id="418" r:id="rId6"/>
    <p:sldId id="414" r:id="rId7"/>
    <p:sldId id="361" r:id="rId8"/>
    <p:sldId id="362" r:id="rId9"/>
    <p:sldId id="364" r:id="rId10"/>
    <p:sldId id="365" r:id="rId11"/>
    <p:sldId id="366" r:id="rId12"/>
    <p:sldId id="367" r:id="rId13"/>
    <p:sldId id="372" r:id="rId14"/>
    <p:sldId id="371" r:id="rId15"/>
    <p:sldId id="379" r:id="rId16"/>
    <p:sldId id="376" r:id="rId17"/>
    <p:sldId id="419" r:id="rId18"/>
    <p:sldId id="422" r:id="rId19"/>
    <p:sldId id="424" r:id="rId20"/>
    <p:sldId id="425" r:id="rId21"/>
    <p:sldId id="450" r:id="rId22"/>
    <p:sldId id="434" r:id="rId23"/>
    <p:sldId id="426" r:id="rId24"/>
    <p:sldId id="427" r:id="rId25"/>
    <p:sldId id="429" r:id="rId26"/>
    <p:sldId id="430" r:id="rId27"/>
    <p:sldId id="431" r:id="rId28"/>
    <p:sldId id="433" r:id="rId29"/>
    <p:sldId id="432" r:id="rId30"/>
    <p:sldId id="435" r:id="rId31"/>
    <p:sldId id="436" r:id="rId32"/>
    <p:sldId id="437" r:id="rId33"/>
    <p:sldId id="438" r:id="rId34"/>
    <p:sldId id="439" r:id="rId35"/>
    <p:sldId id="44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B5D9"/>
    <a:srgbClr val="CAA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258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B065F-9577-40B5-BD7D-1FF3F244483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4EB60-01E8-48D2-974D-2715450D8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47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71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59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952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024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17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IBE</a:t>
            </a:r>
            <a:r>
              <a:rPr lang="zh-CN" altLang="en-US" dirty="0"/>
              <a:t>的正确性则使得，当且仅当密文和密钥中的身份信息相匹配，才可以解密成功，恢复出明文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但从接收者的角度来看，整个通信的过程都只能被动地接收密文然后解密，但对信息的来源一无所知，更无法指定发送方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因此，在</a:t>
            </a:r>
            <a:r>
              <a:rPr lang="en-US" altLang="zh-CN" dirty="0"/>
              <a:t>21</a:t>
            </a:r>
            <a:r>
              <a:rPr lang="zh-CN" altLang="en-US" dirty="0"/>
              <a:t>年的欧密会上提出了匹配加密的概念，身份基匹配加密则是</a:t>
            </a:r>
            <a:r>
              <a:rPr lang="en-US" altLang="zh-CN" dirty="0"/>
              <a:t>ME</a:t>
            </a:r>
            <a:r>
              <a:rPr lang="zh-CN" altLang="en-US" dirty="0"/>
              <a:t>关于身份匹配函数的特殊实例，在</a:t>
            </a:r>
            <a:r>
              <a:rPr lang="en-US" altLang="zh-CN" dirty="0"/>
              <a:t>IB-ME</a:t>
            </a:r>
            <a:r>
              <a:rPr lang="zh-CN" altLang="en-US" dirty="0"/>
              <a:t>方案中，系统建立算法用于生成权威方的主公钥和主私钥，解密密钥生成算法需要用到主私钥，和</a:t>
            </a:r>
            <a:r>
              <a:rPr lang="en-US" altLang="zh-CN" dirty="0"/>
              <a:t>IBE</a:t>
            </a:r>
            <a:r>
              <a:rPr lang="zh-CN" altLang="en-US" dirty="0"/>
              <a:t>的密钥生成算法类似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为了能实现对发送方身份的验证，</a:t>
            </a:r>
            <a:r>
              <a:rPr lang="en-US" altLang="zh-CN" dirty="0"/>
              <a:t>IB-ME</a:t>
            </a:r>
            <a:r>
              <a:rPr lang="zh-CN" altLang="en-US" dirty="0"/>
              <a:t>还额外具有加密密钥生成算法，即这里的</a:t>
            </a:r>
            <a:r>
              <a:rPr lang="en-US" altLang="zh-CN" dirty="0" err="1"/>
              <a:t>SKGen</a:t>
            </a:r>
            <a:r>
              <a:rPr lang="zh-CN" altLang="en-US" dirty="0"/>
              <a:t>，用于给用户生成与其身份信息相关的加密密钥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相应地，在加密时，加密方需要用到由权威方所生成的加密密钥，同时选定接收者身份信息，方可生成密文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解密时，接收方在输入其解密密钥的同时，还能够选择预期的发送方身份信息输入到解密算法中，并进行解密。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当且仅当双向匹配成功，解密算法才会输出明文结果，所谓双向匹配就意味着，解密方</a:t>
            </a:r>
            <a:r>
              <a:rPr lang="en-US" altLang="zh-CN" dirty="0"/>
              <a:t>rho</a:t>
            </a:r>
            <a:r>
              <a:rPr lang="zh-CN" altLang="en-US" dirty="0"/>
              <a:t>的确是密文指定的接收方</a:t>
            </a:r>
            <a:r>
              <a:rPr lang="en-US" altLang="zh-CN" dirty="0" err="1"/>
              <a:t>rcv</a:t>
            </a:r>
            <a:r>
              <a:rPr lang="zh-CN" altLang="en-US" dirty="0"/>
              <a:t>，而密文的生成者</a:t>
            </a:r>
            <a:r>
              <a:rPr lang="en-US" altLang="zh-CN" dirty="0"/>
              <a:t>phi</a:t>
            </a:r>
            <a:r>
              <a:rPr lang="zh-CN" altLang="en-US" dirty="0"/>
              <a:t>也正是解密方指定的发送方</a:t>
            </a:r>
            <a:r>
              <a:rPr lang="en-US" altLang="zh-CN" dirty="0" err="1"/>
              <a:t>snd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IB-ME</a:t>
            </a:r>
            <a:r>
              <a:rPr lang="zh-CN" altLang="en-US" dirty="0"/>
              <a:t>的安全性有两方面，首先是隐私性，本质上和</a:t>
            </a:r>
            <a:r>
              <a:rPr lang="en-US" altLang="zh-CN" dirty="0"/>
              <a:t>IBE</a:t>
            </a:r>
            <a:r>
              <a:rPr lang="zh-CN" altLang="en-US" dirty="0"/>
              <a:t>的安全性是类似的，即需要保证只要敌手没有挑战密文中对应接收方信息的解密密钥，就无法获取挑战密文中的任何有效信息，无论是明文还是发送方身份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因此，为了适配实际应用场景，本文首先提出了更强的可认证性模型，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取消对挑战接收者身份的限制，</a:t>
            </a:r>
            <a:r>
              <a:rPr lang="zh-CN" altLang="en-US" dirty="0"/>
              <a:t> 同时额外允许敌手询问加密谕言机，并对挑战者最终的验证判断条件进行调整，只要敌手最终提交的密文满足能够成功解密，敌手并未询问过相应的加密密钥，而且并未询问过关于挑战密文中对应的同样的加、解密身份和明文的密文询问，只要满足这些条件，就认为敌手</a:t>
            </a:r>
            <a:r>
              <a:rPr lang="zh-CN" altLang="en-US"/>
              <a:t>伪造成功。也就是说，调整后的安全性游戏允许攻击者从选定的来源获取已知明文的密文，同时也允许敌手提交针对已腐化目标接收者的伪造，从而能够捕捉</a:t>
            </a:r>
            <a:r>
              <a:rPr lang="zh-CN" altLang="en-US" dirty="0"/>
              <a:t>自我伪造和纂改伪造等</a:t>
            </a:r>
            <a:r>
              <a:rPr lang="zh-CN" altLang="en-US"/>
              <a:t>攻击类型。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进一步地，本文提出了实现</a:t>
            </a:r>
            <a:r>
              <a:rPr lang="en-US" altLang="zh-CN" dirty="0"/>
              <a:t>IB-ME</a:t>
            </a:r>
            <a:r>
              <a:rPr lang="zh-CN" altLang="en-US" dirty="0"/>
              <a:t>的通用构造，该构造基于对分层式</a:t>
            </a:r>
            <a:r>
              <a:rPr lang="en-US" altLang="zh-CN" dirty="0"/>
              <a:t>IBE</a:t>
            </a:r>
            <a:r>
              <a:rPr lang="zh-CN" altLang="en-US" dirty="0"/>
              <a:t>和</a:t>
            </a:r>
            <a:r>
              <a:rPr lang="en-US" altLang="zh-CN" dirty="0"/>
              <a:t>IB-ME</a:t>
            </a:r>
            <a:r>
              <a:rPr lang="zh-CN" altLang="en-US" dirty="0"/>
              <a:t>在语义上共通点的观察，构造组件用到了</a:t>
            </a:r>
            <a:r>
              <a:rPr lang="en-US" altLang="zh-CN" dirty="0"/>
              <a:t>2</a:t>
            </a:r>
            <a:r>
              <a:rPr lang="zh-CN" altLang="en-US" dirty="0"/>
              <a:t>层匿名身份基加密方案和身份基签名方案，因此，基于格上已有的</a:t>
            </a:r>
            <a:r>
              <a:rPr lang="en-US" altLang="zh-CN" dirty="0"/>
              <a:t>HIBE</a:t>
            </a:r>
            <a:r>
              <a:rPr lang="zh-CN" altLang="en-US" dirty="0"/>
              <a:t>和</a:t>
            </a:r>
            <a:r>
              <a:rPr lang="en-US" altLang="zh-CN" dirty="0"/>
              <a:t>IBS</a:t>
            </a:r>
            <a:r>
              <a:rPr lang="zh-CN" altLang="en-US" dirty="0"/>
              <a:t>方案，可以得到格上实例化的</a:t>
            </a:r>
            <a:r>
              <a:rPr lang="en-US" altLang="zh-CN" dirty="0"/>
              <a:t>IB-ME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787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297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985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840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5284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89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74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976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7261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556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184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5967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3898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957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进一步地，本文提出了实现</a:t>
            </a:r>
            <a:r>
              <a:rPr lang="en-US" altLang="zh-CN" dirty="0"/>
              <a:t>IB-ME</a:t>
            </a:r>
            <a:r>
              <a:rPr lang="zh-CN" altLang="en-US" dirty="0"/>
              <a:t>的通用构造，该构造基于对分层式</a:t>
            </a:r>
            <a:r>
              <a:rPr lang="en-US" altLang="zh-CN" dirty="0"/>
              <a:t>IBE</a:t>
            </a:r>
            <a:r>
              <a:rPr lang="zh-CN" altLang="en-US" dirty="0"/>
              <a:t>和</a:t>
            </a:r>
            <a:r>
              <a:rPr lang="en-US" altLang="zh-CN" dirty="0"/>
              <a:t>IB-ME</a:t>
            </a:r>
            <a:r>
              <a:rPr lang="zh-CN" altLang="en-US" dirty="0"/>
              <a:t>在语义上共通点的观察，构造组件用到了</a:t>
            </a:r>
            <a:r>
              <a:rPr lang="en-US" altLang="zh-CN" dirty="0"/>
              <a:t>2</a:t>
            </a:r>
            <a:r>
              <a:rPr lang="zh-CN" altLang="en-US" dirty="0"/>
              <a:t>层匿名身份基加密方案和身份基签名方案，因此，基于格上已有的</a:t>
            </a:r>
            <a:r>
              <a:rPr lang="en-US" altLang="zh-CN" dirty="0"/>
              <a:t>HIBE</a:t>
            </a:r>
            <a:r>
              <a:rPr lang="zh-CN" altLang="en-US" dirty="0"/>
              <a:t>和</a:t>
            </a:r>
            <a:r>
              <a:rPr lang="en-US" altLang="zh-CN" dirty="0"/>
              <a:t>IBS</a:t>
            </a:r>
            <a:r>
              <a:rPr lang="zh-CN" altLang="en-US" dirty="0"/>
              <a:t>方案，可以得到格上实例化的</a:t>
            </a:r>
            <a:r>
              <a:rPr lang="en-US" altLang="zh-CN" dirty="0"/>
              <a:t>IB-ME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9432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IBE</a:t>
            </a:r>
            <a:r>
              <a:rPr lang="zh-CN" altLang="en-US" dirty="0"/>
              <a:t>的正确性则使得，当且仅当密文和密钥中的身份信息相匹配，才可以解密成功，恢复出明文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086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IBE</a:t>
            </a:r>
            <a:r>
              <a:rPr lang="zh-CN" altLang="en-US" dirty="0"/>
              <a:t>的正确性则使得，当且仅当密文和密钥中的身份信息相匹配，才可以解密成功，恢复出明文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7097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IBE</a:t>
            </a:r>
            <a:r>
              <a:rPr lang="zh-CN" altLang="en-US" dirty="0"/>
              <a:t>的正确性则使得，当且仅当密文和密钥中的身份信息相匹配，才可以解密成功，恢复出明文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2826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首先是身份基匹配加密。在我们熟悉的</a:t>
            </a:r>
            <a:r>
              <a:rPr lang="en-US" altLang="zh-CN" dirty="0"/>
              <a:t>IBE</a:t>
            </a:r>
            <a:r>
              <a:rPr lang="zh-CN" altLang="en-US" dirty="0"/>
              <a:t>方案中，密文和密钥都会分别和某个身份信息相绑定，密钥生成算法中，权威方会利用主私钥为身份为</a:t>
            </a:r>
            <a:r>
              <a:rPr lang="en-US" altLang="zh-CN" dirty="0"/>
              <a:t>id</a:t>
            </a:r>
            <a:r>
              <a:rPr lang="zh-CN" altLang="en-US" dirty="0"/>
              <a:t>的用户生成私钥</a:t>
            </a:r>
            <a:r>
              <a:rPr lang="en-US" altLang="zh-CN" dirty="0" err="1"/>
              <a:t>sk</a:t>
            </a:r>
            <a:r>
              <a:rPr lang="zh-CN" altLang="en-US" dirty="0"/>
              <a:t>，而加密算法中，任意用户可以将指定的接收方身份信息</a:t>
            </a:r>
            <a:r>
              <a:rPr lang="en-US" altLang="zh-CN" dirty="0"/>
              <a:t>id’</a:t>
            </a:r>
            <a:r>
              <a:rPr lang="zh-CN" altLang="en-US" dirty="0"/>
              <a:t>嵌入到密文里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74BB3C-00E7-4672-AD32-32115EFDD3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9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5EAA-A864-41A8-A878-594CDA1CEB47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29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5C97-C548-4EAA-B113-CC418F8D74AD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97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0B7E-FCF8-435F-ACB7-5C20844E1116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73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3A5-962A-464A-B2C5-AABDDF85B44B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182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0A64-1EE8-4B65-AE22-04A8FD99EE83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9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C6E12-E201-47E3-A73D-D71DEC10DEB0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32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C81E0-1F26-437A-9CC4-16374A3177C9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38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A70F-7A5C-4773-A141-1A4D3C0057BC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D5AF-01C2-4D44-9FE6-CF7529DF2BD2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80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E6D03-5CE6-4A73-BB71-3E7A33F317DD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78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D8B48-3E60-4AE0-9AA1-0AED4B20E2CE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457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CDDEA-56B1-4A7A-8C67-3DC8F1F2B8D7}" type="datetime1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DD0ECA0-01DD-47F2-B1F3-B4687C353E75}" type="slidenum">
              <a:rPr lang="zh-CN" altLang="en-US" smtClean="0"/>
              <a:t>‹#›</a:t>
            </a:fld>
            <a:r>
              <a:rPr lang="en-US" altLang="zh-CN" dirty="0">
                <a:ea typeface="Calibri" panose="020F0502020204030204" pitchFamily="34" charset="0"/>
              </a:rPr>
              <a:t>/27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322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(pk,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blipFill>
                <a:blip r:embed="rId3"/>
                <a:stretch>
                  <a:fillRect l="-3770" t="-8989" r="-7181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4973430" y="2389074"/>
            <a:ext cx="73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122746" y="442130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76362" y="3867283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44743" y="4197796"/>
            <a:ext cx="339933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758" y="2149141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24" y="2378413"/>
            <a:ext cx="1023935" cy="1023935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ublic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ncryption(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PKE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7148" y="3604171"/>
            <a:ext cx="263839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Enc(pk,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509A7D3-B214-41DA-AD96-BEBEB5879320}"/>
              </a:ext>
            </a:extLst>
          </p:cNvPr>
          <p:cNvCxnSpPr/>
          <p:nvPr/>
        </p:nvCxnSpPr>
        <p:spPr>
          <a:xfrm>
            <a:off x="4062860" y="297294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blipFill>
                <a:blip r:embed="rId3"/>
                <a:stretch>
                  <a:fillRect l="-3770" t="-8989" r="-7181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4973430" y="2389074"/>
            <a:ext cx="73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122746" y="442130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76362" y="3867283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758" y="2149141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24" y="2378413"/>
            <a:ext cx="1023935" cy="1023935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ublic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ncryption(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PKE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7148" y="3604171"/>
            <a:ext cx="263839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509A7D3-B214-41DA-AD96-BEBEB5879320}"/>
              </a:ext>
            </a:extLst>
          </p:cNvPr>
          <p:cNvCxnSpPr/>
          <p:nvPr/>
        </p:nvCxnSpPr>
        <p:spPr>
          <a:xfrm>
            <a:off x="4062860" y="297294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B8A5BDE-B48C-4BB9-A7B1-9608CE8A1C87}"/>
              </a:ext>
            </a:extLst>
          </p:cNvPr>
          <p:cNvSpPr txBox="1"/>
          <p:nvPr/>
        </p:nvSpPr>
        <p:spPr>
          <a:xfrm>
            <a:off x="6844743" y="4197796"/>
            <a:ext cx="38862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if 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84C8B2-757E-4DDE-B735-5D289310FD36}"/>
              </a:ext>
            </a:extLst>
          </p:cNvPr>
          <p:cNvSpPr txBox="1"/>
          <p:nvPr/>
        </p:nvSpPr>
        <p:spPr>
          <a:xfrm>
            <a:off x="6779718" y="3604171"/>
            <a:ext cx="2637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Correctness: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260552B-5D7A-40F6-BB49-834C8A1C5BE1}"/>
              </a:ext>
            </a:extLst>
          </p:cNvPr>
          <p:cNvSpPr txBox="1"/>
          <p:nvPr/>
        </p:nvSpPr>
        <p:spPr>
          <a:xfrm>
            <a:off x="2456347" y="5165457"/>
            <a:ext cx="66978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Security</a:t>
            </a:r>
            <a:r>
              <a:rPr lang="en-US" altLang="zh-CN" sz="2800" dirty="0">
                <a:solidFill>
                  <a:srgbClr val="98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remains hidden for</a:t>
            </a:r>
            <a:r>
              <a:rPr lang="en-US" altLang="zh-CN" sz="2800" dirty="0">
                <a:solidFill>
                  <a:srgbClr val="98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lang="en-US" altLang="zh-CN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≠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(even given pk and polynomial ciphertexts)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5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ublic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ncryption(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PKE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CA7D89-4B77-4E07-A240-8ABC6B8739BD}"/>
              </a:ext>
            </a:extLst>
          </p:cNvPr>
          <p:cNvSpPr/>
          <p:nvPr/>
        </p:nvSpPr>
        <p:spPr>
          <a:xfrm>
            <a:off x="6212150" y="2064313"/>
            <a:ext cx="3256970" cy="634381"/>
          </a:xfrm>
          <a:prstGeom prst="rect">
            <a:avLst/>
          </a:prstGeom>
          <a:solidFill>
            <a:srgbClr val="F3AE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C5A2EE-D13D-4316-A0DE-96F22216A524}"/>
              </a:ext>
            </a:extLst>
          </p:cNvPr>
          <p:cNvSpPr txBox="1"/>
          <p:nvPr/>
        </p:nvSpPr>
        <p:spPr>
          <a:xfrm>
            <a:off x="6900740" y="3015655"/>
            <a:ext cx="3554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Adversary can not tell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9679440-5627-4553-88CA-71B64C9517DA}"/>
                  </a:ext>
                </a:extLst>
              </p:cNvPr>
              <p:cNvSpPr txBox="1"/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(pk,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9679440-5627-4553-88CA-71B64C95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135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图片 34">
            <a:extLst>
              <a:ext uri="{FF2B5EF4-FFF2-40B4-BE49-F238E27FC236}">
                <a16:creationId xmlns:a16="http://schemas.microsoft.com/office/drawing/2014/main" id="{53D50288-83EC-4F7D-AB61-DF82B8AA8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82" y="1528639"/>
            <a:ext cx="1124852" cy="112485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9977525-CBCE-4530-98C3-E254F04D03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845" y="5065624"/>
            <a:ext cx="1236024" cy="1236024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A20F4BB7-7BC9-4331-9641-91F40AC02777}"/>
              </a:ext>
            </a:extLst>
          </p:cNvPr>
          <p:cNvSpPr txBox="1"/>
          <p:nvPr/>
        </p:nvSpPr>
        <p:spPr>
          <a:xfrm>
            <a:off x="4150624" y="3816749"/>
            <a:ext cx="537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D0DE029-E867-43AD-B3C0-652A79437467}"/>
              </a:ext>
            </a:extLst>
          </p:cNvPr>
          <p:cNvCxnSpPr/>
          <p:nvPr/>
        </p:nvCxnSpPr>
        <p:spPr>
          <a:xfrm>
            <a:off x="1609725" y="5361219"/>
            <a:ext cx="1913690" cy="0"/>
          </a:xfrm>
          <a:prstGeom prst="straightConnector1">
            <a:avLst/>
          </a:prstGeom>
          <a:ln w="38100">
            <a:solidFill>
              <a:srgbClr val="98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2271875-83F6-4810-A61A-614B21934196}"/>
              </a:ext>
            </a:extLst>
          </p:cNvPr>
          <p:cNvCxnSpPr/>
          <p:nvPr/>
        </p:nvCxnSpPr>
        <p:spPr>
          <a:xfrm>
            <a:off x="1146006" y="5870674"/>
            <a:ext cx="229574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E30DAF9-4031-48C4-9623-AF5A76A4FB70}"/>
              </a:ext>
            </a:extLst>
          </p:cNvPr>
          <p:cNvCxnSpPr/>
          <p:nvPr/>
        </p:nvCxnSpPr>
        <p:spPr>
          <a:xfrm flipV="1">
            <a:off x="1629969" y="2483746"/>
            <a:ext cx="13288" cy="2872280"/>
          </a:xfrm>
          <a:prstGeom prst="line">
            <a:avLst/>
          </a:prstGeom>
          <a:ln w="38100">
            <a:solidFill>
              <a:srgbClr val="98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7329866-5B5A-4AD9-BAA6-DE8FB2BC6964}"/>
              </a:ext>
            </a:extLst>
          </p:cNvPr>
          <p:cNvCxnSpPr/>
          <p:nvPr/>
        </p:nvCxnSpPr>
        <p:spPr>
          <a:xfrm>
            <a:off x="1624209" y="2483746"/>
            <a:ext cx="1780895" cy="0"/>
          </a:xfrm>
          <a:prstGeom prst="straightConnector1">
            <a:avLst/>
          </a:prstGeom>
          <a:ln w="38100">
            <a:solidFill>
              <a:srgbClr val="9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7026131-68AD-4198-B624-EB31F373BC1C}"/>
              </a:ext>
            </a:extLst>
          </p:cNvPr>
          <p:cNvCxnSpPr/>
          <p:nvPr/>
        </p:nvCxnSpPr>
        <p:spPr>
          <a:xfrm flipV="1">
            <a:off x="1159634" y="1987407"/>
            <a:ext cx="11375" cy="3888461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25319DE-0483-4127-99A6-39D03E920690}"/>
              </a:ext>
            </a:extLst>
          </p:cNvPr>
          <p:cNvCxnSpPr/>
          <p:nvPr/>
        </p:nvCxnSpPr>
        <p:spPr>
          <a:xfrm>
            <a:off x="1155530" y="1982213"/>
            <a:ext cx="2263860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F012BDA-87F3-4645-80AD-FDE4FC5DCAEB}"/>
              </a:ext>
            </a:extLst>
          </p:cNvPr>
          <p:cNvSpPr txBox="1"/>
          <p:nvPr/>
        </p:nvSpPr>
        <p:spPr>
          <a:xfrm>
            <a:off x="1587882" y="3330571"/>
            <a:ext cx="553998" cy="1642587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,m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68730A0-66CE-44F7-A020-06727D24E643}"/>
              </a:ext>
            </a:extLst>
          </p:cNvPr>
          <p:cNvSpPr txBox="1"/>
          <p:nvPr/>
        </p:nvSpPr>
        <p:spPr>
          <a:xfrm>
            <a:off x="400580" y="3689763"/>
            <a:ext cx="827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E94FE64-3CA5-4668-AC13-DDC134F9B587}"/>
              </a:ext>
            </a:extLst>
          </p:cNvPr>
          <p:cNvSpPr txBox="1"/>
          <p:nvPr/>
        </p:nvSpPr>
        <p:spPr>
          <a:xfrm>
            <a:off x="6328884" y="2119893"/>
            <a:ext cx="2957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Security (IND-CPA) 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736713B-0CE7-4F15-825F-DC42DAC17E33}"/>
              </a:ext>
            </a:extLst>
          </p:cNvPr>
          <p:cNvCxnSpPr>
            <a:cxnSpLocks/>
          </p:cNvCxnSpPr>
          <p:nvPr/>
        </p:nvCxnSpPr>
        <p:spPr>
          <a:xfrm>
            <a:off x="4135120" y="3495869"/>
            <a:ext cx="0" cy="1477289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弧形 58">
            <a:extLst>
              <a:ext uri="{FF2B5EF4-FFF2-40B4-BE49-F238E27FC236}">
                <a16:creationId xmlns:a16="http://schemas.microsoft.com/office/drawing/2014/main" id="{D6200C6B-0642-47DE-AFD4-889B5CD1C04B}"/>
              </a:ext>
            </a:extLst>
          </p:cNvPr>
          <p:cNvSpPr/>
          <p:nvPr/>
        </p:nvSpPr>
        <p:spPr>
          <a:xfrm rot="2813707">
            <a:off x="2602534" y="3092522"/>
            <a:ext cx="2305050" cy="1971675"/>
          </a:xfrm>
          <a:prstGeom prst="arc">
            <a:avLst/>
          </a:prstGeom>
          <a:ln w="38100">
            <a:solidFill>
              <a:srgbClr val="98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0" name="弧形 59">
            <a:extLst>
              <a:ext uri="{FF2B5EF4-FFF2-40B4-BE49-F238E27FC236}">
                <a16:creationId xmlns:a16="http://schemas.microsoft.com/office/drawing/2014/main" id="{8C800B2B-2B62-469B-BB84-860764B481DA}"/>
              </a:ext>
            </a:extLst>
          </p:cNvPr>
          <p:cNvSpPr/>
          <p:nvPr/>
        </p:nvSpPr>
        <p:spPr>
          <a:xfrm rot="14249132">
            <a:off x="3413698" y="3383063"/>
            <a:ext cx="2305050" cy="1971675"/>
          </a:xfrm>
          <a:prstGeom prst="arc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5B8529D-7398-4200-8DEF-F1F339E6637D}"/>
              </a:ext>
            </a:extLst>
          </p:cNvPr>
          <p:cNvSpPr txBox="1"/>
          <p:nvPr/>
        </p:nvSpPr>
        <p:spPr>
          <a:xfrm>
            <a:off x="4782545" y="4175231"/>
            <a:ext cx="635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FFF8D5-4800-4CCD-953B-8A2800BCA9FE}"/>
              </a:ext>
            </a:extLst>
          </p:cNvPr>
          <p:cNvSpPr txBox="1"/>
          <p:nvPr/>
        </p:nvSpPr>
        <p:spPr>
          <a:xfrm>
            <a:off x="2938651" y="4159829"/>
            <a:ext cx="804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9DDA57B-C93B-4891-BF3C-A80819F04969}"/>
              </a:ext>
            </a:extLst>
          </p:cNvPr>
          <p:cNvSpPr txBox="1"/>
          <p:nvPr/>
        </p:nvSpPr>
        <p:spPr>
          <a:xfrm>
            <a:off x="5909809" y="3711293"/>
            <a:ext cx="2821102" cy="52322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3F5D124-233C-4EF7-8F6F-9703844D7C0A}"/>
              </a:ext>
            </a:extLst>
          </p:cNvPr>
          <p:cNvSpPr txBox="1"/>
          <p:nvPr/>
        </p:nvSpPr>
        <p:spPr>
          <a:xfrm>
            <a:off x="8677778" y="3711293"/>
            <a:ext cx="639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CE1F174-3B8E-46DF-B9A5-C5090A4F43F4}"/>
              </a:ext>
            </a:extLst>
          </p:cNvPr>
          <p:cNvSpPr txBox="1"/>
          <p:nvPr/>
        </p:nvSpPr>
        <p:spPr>
          <a:xfrm>
            <a:off x="9154093" y="3703570"/>
            <a:ext cx="2821103" cy="52322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D76B0E4-0627-42C6-B4D9-70A184E5604E}"/>
              </a:ext>
            </a:extLst>
          </p:cNvPr>
          <p:cNvSpPr txBox="1"/>
          <p:nvPr/>
        </p:nvSpPr>
        <p:spPr>
          <a:xfrm>
            <a:off x="6664457" y="4569024"/>
            <a:ext cx="3885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比特信息也无法区分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62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(pk,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blipFill>
                <a:blip r:embed="rId3"/>
                <a:stretch>
                  <a:fillRect l="-3770" t="-8989" r="-7181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4973430" y="2389074"/>
            <a:ext cx="73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122746" y="442130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76362" y="3867283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44743" y="4197796"/>
            <a:ext cx="339933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758" y="2149141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24" y="2378413"/>
            <a:ext cx="1023935" cy="1023935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ublic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ncryption(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PKE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7148" y="3604171"/>
            <a:ext cx="263839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Enc(pk,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509A7D3-B214-41DA-AD96-BEBEB5879320}"/>
              </a:ext>
            </a:extLst>
          </p:cNvPr>
          <p:cNvCxnSpPr/>
          <p:nvPr/>
        </p:nvCxnSpPr>
        <p:spPr>
          <a:xfrm>
            <a:off x="4062860" y="297294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6B426B7-94C9-4E3B-8534-92E3A30341BF}"/>
              </a:ext>
            </a:extLst>
          </p:cNvPr>
          <p:cNvSpPr/>
          <p:nvPr/>
        </p:nvSpPr>
        <p:spPr>
          <a:xfrm>
            <a:off x="3130882" y="5211975"/>
            <a:ext cx="5174918" cy="91250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29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D2E1FB-83B7-4A13-AF42-6ED78DF4A3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764" y="4779161"/>
            <a:ext cx="812323" cy="8123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52A1430-A75A-4AE5-AE68-C0FB39DCEFD5}"/>
              </a:ext>
            </a:extLst>
          </p:cNvPr>
          <p:cNvSpPr txBox="1"/>
          <p:nvPr/>
        </p:nvSpPr>
        <p:spPr>
          <a:xfrm>
            <a:off x="3418086" y="5316412"/>
            <a:ext cx="48343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/>
              <a:t>局限</a:t>
            </a:r>
            <a:r>
              <a:rPr lang="zh-CN" altLang="en-US" sz="2000" dirty="0"/>
              <a:t>：依赖证书机构管理和分发公钥证书，造成繁重的密钥管理与认证开销</a:t>
            </a:r>
          </a:p>
        </p:txBody>
      </p:sp>
    </p:spTree>
    <p:extLst>
      <p:ext uri="{BB962C8B-B14F-4D97-AF65-F5344CB8AC3E}">
        <p14:creationId xmlns:p14="http://schemas.microsoft.com/office/powerpoint/2010/main" val="425503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(pk,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598" y="2576265"/>
                <a:ext cx="3399337" cy="543418"/>
              </a:xfrm>
              <a:prstGeom prst="rect">
                <a:avLst/>
              </a:prstGeom>
              <a:blipFill>
                <a:blip r:embed="rId3"/>
                <a:stretch>
                  <a:fillRect l="-3770" t="-8989" r="-7181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4973430" y="2389074"/>
            <a:ext cx="73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122746" y="442130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76362" y="3867283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44743" y="4197796"/>
            <a:ext cx="339933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758" y="2149141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24" y="2378413"/>
            <a:ext cx="1023935" cy="1023935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ublic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ncryption(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PKE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7148" y="3604171"/>
            <a:ext cx="263839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Enc(pk,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509A7D3-B214-41DA-AD96-BEBEB5879320}"/>
              </a:ext>
            </a:extLst>
          </p:cNvPr>
          <p:cNvCxnSpPr/>
          <p:nvPr/>
        </p:nvCxnSpPr>
        <p:spPr>
          <a:xfrm>
            <a:off x="4062860" y="2972949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6B426B7-94C9-4E3B-8534-92E3A30341BF}"/>
              </a:ext>
            </a:extLst>
          </p:cNvPr>
          <p:cNvSpPr/>
          <p:nvPr/>
        </p:nvSpPr>
        <p:spPr>
          <a:xfrm>
            <a:off x="3603151" y="5370999"/>
            <a:ext cx="4214798" cy="65769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29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2A1430-A75A-4AE5-AE68-C0FB39DCEFD5}"/>
              </a:ext>
            </a:extLst>
          </p:cNvPr>
          <p:cNvSpPr txBox="1"/>
          <p:nvPr/>
        </p:nvSpPr>
        <p:spPr>
          <a:xfrm>
            <a:off x="3890355" y="5475435"/>
            <a:ext cx="4834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/>
              <a:t>解法</a:t>
            </a:r>
            <a:r>
              <a:rPr lang="zh-CN" altLang="en-US" sz="2000" dirty="0"/>
              <a:t>：公钥和身份信息相绑定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FD9C33E-1D8B-4BDB-B129-8605907466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687" y="4717846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1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2308269" y="1723894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98871" y="3413670"/>
            <a:ext cx="343077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681162" y="4406900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830028" y="5488317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783644" y="4934291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560335" y="5239232"/>
            <a:ext cx="3583915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4" y="3227742"/>
            <a:ext cx="1023935" cy="1023935"/>
          </a:xfrm>
          <a:prstGeom prst="rect">
            <a:avLst/>
          </a:prstGeom>
        </p:spPr>
      </p:pic>
      <p:cxnSp>
        <p:nvCxnSpPr>
          <p:cNvPr id="61" name="连接符: 肘形 60"/>
          <p:cNvCxnSpPr/>
          <p:nvPr/>
        </p:nvCxnSpPr>
        <p:spPr>
          <a:xfrm rot="10800000" flipV="1">
            <a:off x="1681162" y="2234280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8"/>
            <a:ext cx="847710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7560335" y="1187645"/>
            <a:ext cx="45554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Encryption(</a:t>
            </a:r>
            <a:r>
              <a:rPr lang="en-US" altLang="zh-CN" sz="2800" b="1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IBE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27912" y="5226707"/>
            <a:ext cx="329734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id’,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72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2308269" y="1723894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98871" y="3413670"/>
            <a:ext cx="343077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27912" y="5226707"/>
            <a:ext cx="329734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id’,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1681162" y="4406900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830028" y="5488317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783644" y="4934291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4" y="3227742"/>
            <a:ext cx="1023935" cy="1023935"/>
          </a:xfrm>
          <a:prstGeom prst="rect">
            <a:avLst/>
          </a:prstGeom>
        </p:spPr>
      </p:pic>
      <p:cxnSp>
        <p:nvCxnSpPr>
          <p:cNvPr id="61" name="连接符: 肘形 60"/>
          <p:cNvCxnSpPr/>
          <p:nvPr/>
        </p:nvCxnSpPr>
        <p:spPr>
          <a:xfrm rot="10800000" flipV="1">
            <a:off x="1681162" y="2234280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8"/>
            <a:ext cx="847710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560335" y="5239232"/>
            <a:ext cx="38862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if id = id’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65086" y="4683132"/>
            <a:ext cx="2637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Correctness: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8CD32B-28A7-417C-9D8C-19C0A410E1CA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1858473" y="3530187"/>
            <a:ext cx="329734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id’,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648896" y="2891118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602512" y="2337092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756" y="2150112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75" y="2298896"/>
            <a:ext cx="1023935" cy="102393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998617" y="1187645"/>
            <a:ext cx="4117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386" y="3510091"/>
            <a:ext cx="3583915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861051" y="4763886"/>
            <a:ext cx="4568573" cy="6521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29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890" y="4357725"/>
            <a:ext cx="812323" cy="812323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336684" y="4859132"/>
            <a:ext cx="3731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接收者无法得知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选择信源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59" y="5089964"/>
            <a:ext cx="657046" cy="657046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BBDC47F-39F8-41AA-AB6E-436A48E90906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2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7"/>
            <a:ext cx="847710" cy="83191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身份基匹配加密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Identity Based Matchmaking Encryption (IB-ME)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语义定义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2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7"/>
            <a:ext cx="847710" cy="83191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11" y="4306553"/>
            <a:ext cx="1023935" cy="1023935"/>
          </a:xfrm>
          <a:prstGeom prst="rect">
            <a:avLst/>
          </a:prstGeom>
        </p:spPr>
      </p:pic>
      <p:cxnSp>
        <p:nvCxnSpPr>
          <p:cNvPr id="21" name="连接符: 肘形 20"/>
          <p:cNvCxnSpPr/>
          <p:nvPr/>
        </p:nvCxnSpPr>
        <p:spPr>
          <a:xfrm rot="10800000" flipV="1">
            <a:off x="2437289" y="3313091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5907" y="3429000"/>
            <a:ext cx="3770602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语义定义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2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7"/>
            <a:ext cx="847710" cy="83191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11" y="4306553"/>
            <a:ext cx="1023935" cy="1023935"/>
          </a:xfrm>
          <a:prstGeom prst="rect">
            <a:avLst/>
          </a:prstGeom>
        </p:spPr>
      </p:pic>
      <p:cxnSp>
        <p:nvCxnSpPr>
          <p:cNvPr id="21" name="连接符: 肘形 20"/>
          <p:cNvCxnSpPr/>
          <p:nvPr/>
        </p:nvCxnSpPr>
        <p:spPr>
          <a:xfrm rot="10800000" flipV="1">
            <a:off x="2437289" y="3313091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5907" y="3429000"/>
            <a:ext cx="3770602" cy="523220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1464" y="5423211"/>
            <a:ext cx="348504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4" name="直接箭头连接符 23"/>
          <p:cNvCxnSpPr>
            <a:stCxn id="23" idx="3"/>
          </p:cNvCxnSpPr>
          <p:nvPr/>
        </p:nvCxnSpPr>
        <p:spPr>
          <a:xfrm>
            <a:off x="4206509" y="5684821"/>
            <a:ext cx="189901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58147" y="5116475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语义定义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2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7"/>
            <a:ext cx="847710" cy="83191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11" y="4306553"/>
            <a:ext cx="1023935" cy="1023935"/>
          </a:xfrm>
          <a:prstGeom prst="rect">
            <a:avLst/>
          </a:prstGeom>
        </p:spPr>
      </p:pic>
      <p:cxnSp>
        <p:nvCxnSpPr>
          <p:cNvPr id="21" name="连接符: 肘形 20"/>
          <p:cNvCxnSpPr/>
          <p:nvPr/>
        </p:nvCxnSpPr>
        <p:spPr>
          <a:xfrm rot="10800000" flipV="1">
            <a:off x="2437289" y="3313091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5907" y="3429000"/>
            <a:ext cx="3770602" cy="523220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1464" y="5423211"/>
            <a:ext cx="348504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4" name="直接箭头连接符 23"/>
          <p:cNvCxnSpPr>
            <a:stCxn id="23" idx="3"/>
          </p:cNvCxnSpPr>
          <p:nvPr/>
        </p:nvCxnSpPr>
        <p:spPr>
          <a:xfrm>
            <a:off x="4206509" y="5684821"/>
            <a:ext cx="189901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58147" y="5116475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69754" y="4854865"/>
            <a:ext cx="4103145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语义定义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l="-3" t="-74" r="3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2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endCxn id="37" idx="1"/>
          </p:cNvCxnSpPr>
          <p:nvPr/>
        </p:nvCxnSpPr>
        <p:spPr>
          <a:xfrm rot="16200000" flipH="1">
            <a:off x="4359059" y="2835467"/>
            <a:ext cx="847710" cy="83191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11" y="4306553"/>
            <a:ext cx="1023935" cy="1023935"/>
          </a:xfrm>
          <a:prstGeom prst="rect">
            <a:avLst/>
          </a:prstGeom>
        </p:spPr>
      </p:pic>
      <p:cxnSp>
        <p:nvCxnSpPr>
          <p:cNvPr id="21" name="连接符: 肘形 20"/>
          <p:cNvCxnSpPr/>
          <p:nvPr/>
        </p:nvCxnSpPr>
        <p:spPr>
          <a:xfrm rot="10800000" flipV="1">
            <a:off x="2437289" y="3313091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5907" y="3429000"/>
            <a:ext cx="3770602" cy="523220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1464" y="5423211"/>
            <a:ext cx="348504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4" name="直接箭头连接符 23"/>
          <p:cNvCxnSpPr>
            <a:stCxn id="23" idx="3"/>
          </p:cNvCxnSpPr>
          <p:nvPr/>
        </p:nvCxnSpPr>
        <p:spPr>
          <a:xfrm>
            <a:off x="4206509" y="5684821"/>
            <a:ext cx="189901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58147" y="5116475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69755" y="4854865"/>
            <a:ext cx="327149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Dec(dk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snd,ct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669755" y="5499297"/>
            <a:ext cx="3271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=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rcv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snd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=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8D1C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397" y="5070008"/>
            <a:ext cx="952509" cy="9525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57929" y="4261380"/>
            <a:ext cx="2637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Correctness: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正确性定义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28884" y="2371511"/>
            <a:ext cx="2775359" cy="634381"/>
          </a:xfrm>
          <a:prstGeom prst="rect">
            <a:avLst/>
          </a:prstGeom>
          <a:solidFill>
            <a:srgbClr val="F3AE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17242" y="2098338"/>
            <a:ext cx="5876375" cy="3419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Security |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隐私性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Both the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sender id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hidden from Adversary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all asked dk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≠ rcv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≠ rcv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t="-3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82" y="1528639"/>
            <a:ext cx="1124852" cy="11248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56560" y="1223630"/>
            <a:ext cx="320896" cy="32089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845" y="5065624"/>
            <a:ext cx="1236024" cy="1236024"/>
          </a:xfrm>
          <a:prstGeom prst="rect">
            <a:avLst/>
          </a:prstGeom>
        </p:spPr>
      </p:pic>
      <p:sp>
        <p:nvSpPr>
          <p:cNvPr id="11" name="弧形 10"/>
          <p:cNvSpPr/>
          <p:nvPr/>
        </p:nvSpPr>
        <p:spPr>
          <a:xfrm rot="2813707">
            <a:off x="2602534" y="3092522"/>
            <a:ext cx="2305050" cy="1971675"/>
          </a:xfrm>
          <a:prstGeom prst="arc">
            <a:avLst/>
          </a:prstGeom>
          <a:ln w="38100">
            <a:solidFill>
              <a:srgbClr val="98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弧形 11"/>
          <p:cNvSpPr/>
          <p:nvPr/>
        </p:nvSpPr>
        <p:spPr>
          <a:xfrm rot="14249132">
            <a:off x="3413698" y="3383063"/>
            <a:ext cx="2305050" cy="1971675"/>
          </a:xfrm>
          <a:prstGeom prst="arc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79207" y="3890255"/>
            <a:ext cx="635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63486" y="3845680"/>
            <a:ext cx="804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609725" y="5361219"/>
            <a:ext cx="1913690" cy="0"/>
          </a:xfrm>
          <a:prstGeom prst="straightConnector1">
            <a:avLst/>
          </a:prstGeom>
          <a:ln w="38100">
            <a:solidFill>
              <a:srgbClr val="98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146006" y="5870674"/>
            <a:ext cx="229574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629969" y="2483746"/>
            <a:ext cx="13288" cy="2872280"/>
          </a:xfrm>
          <a:prstGeom prst="line">
            <a:avLst/>
          </a:prstGeom>
          <a:ln w="38100">
            <a:solidFill>
              <a:srgbClr val="98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624209" y="2483746"/>
            <a:ext cx="1780895" cy="0"/>
          </a:xfrm>
          <a:prstGeom prst="straightConnector1">
            <a:avLst/>
          </a:prstGeom>
          <a:ln w="38100">
            <a:solidFill>
              <a:srgbClr val="9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159634" y="1987407"/>
            <a:ext cx="11375" cy="3888461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155530" y="1982213"/>
            <a:ext cx="2263860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218550" y="3330571"/>
            <a:ext cx="923330" cy="1642587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,m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,rcv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,rcv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l-G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l-GR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l-G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l-GR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0580" y="3689763"/>
            <a:ext cx="827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[AFNV21]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研究背景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安全性定义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70022" y="2151156"/>
            <a:ext cx="3453470" cy="634381"/>
          </a:xfrm>
          <a:prstGeom prst="rect">
            <a:avLst/>
          </a:prstGeom>
          <a:solidFill>
            <a:srgbClr val="F3AE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40969" y="1998863"/>
            <a:ext cx="6140435" cy="411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Security |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强可认证性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Adversary can query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Adversary can query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Encryption Oracle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Adversary never asked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 the same ciphertext</a:t>
            </a:r>
            <a:endParaRPr kumimoji="0" lang="en-US" altLang="zh-CN" sz="2800" b="1" i="1" u="none" strike="noStrike" kern="1200" cap="none" spc="0" normalizeH="0" baseline="-2500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submitted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vaild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强可认证性安全性定义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7" y="2733847"/>
                <a:ext cx="3886200" cy="543418"/>
              </a:xfrm>
              <a:prstGeom prst="rect">
                <a:avLst/>
              </a:prstGeom>
              <a:blipFill rotWithShape="1">
                <a:blip r:embed="rId3"/>
                <a:stretch>
                  <a:fillRect t="-3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82" y="1528639"/>
            <a:ext cx="1124852" cy="11248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56560" y="1223630"/>
            <a:ext cx="320896" cy="32089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845" y="5065624"/>
            <a:ext cx="1236024" cy="1236024"/>
          </a:xfrm>
          <a:prstGeom prst="rect">
            <a:avLst/>
          </a:prstGeom>
        </p:spPr>
      </p:pic>
      <p:sp>
        <p:nvSpPr>
          <p:cNvPr id="11" name="弧形 10"/>
          <p:cNvSpPr/>
          <p:nvPr/>
        </p:nvSpPr>
        <p:spPr>
          <a:xfrm rot="2813707">
            <a:off x="2399336" y="3098218"/>
            <a:ext cx="2305050" cy="1971675"/>
          </a:xfrm>
          <a:prstGeom prst="arc">
            <a:avLst/>
          </a:prstGeom>
          <a:ln w="38100">
            <a:solidFill>
              <a:srgbClr val="98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弧形 11"/>
          <p:cNvSpPr/>
          <p:nvPr/>
        </p:nvSpPr>
        <p:spPr>
          <a:xfrm rot="14249132">
            <a:off x="3665626" y="3425393"/>
            <a:ext cx="2305050" cy="1971675"/>
          </a:xfrm>
          <a:prstGeom prst="arc">
            <a:avLst/>
          </a:prstGeom>
          <a:ln w="38100">
            <a:solidFill>
              <a:srgbClr val="98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94172" y="3888010"/>
            <a:ext cx="473693" cy="523220"/>
          </a:xfrm>
          <a:prstGeom prst="rect">
            <a:avLst/>
          </a:prstGeom>
          <a:solidFill>
            <a:srgbClr val="F0EAD7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97775" y="3849030"/>
            <a:ext cx="620481" cy="523220"/>
          </a:xfrm>
          <a:prstGeom prst="rect">
            <a:avLst/>
          </a:prstGeom>
          <a:solidFill>
            <a:srgbClr val="F0EAD7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609725" y="5361219"/>
            <a:ext cx="1913690" cy="0"/>
          </a:xfrm>
          <a:prstGeom prst="straightConnector1">
            <a:avLst/>
          </a:prstGeom>
          <a:ln w="38100">
            <a:solidFill>
              <a:srgbClr val="98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629969" y="2483746"/>
            <a:ext cx="13288" cy="2872280"/>
          </a:xfrm>
          <a:prstGeom prst="line">
            <a:avLst/>
          </a:prstGeom>
          <a:ln w="38100">
            <a:solidFill>
              <a:srgbClr val="98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624209" y="2483746"/>
            <a:ext cx="1780895" cy="0"/>
          </a:xfrm>
          <a:prstGeom prst="straightConnector1">
            <a:avLst/>
          </a:prstGeom>
          <a:ln w="38100">
            <a:solidFill>
              <a:srgbClr val="9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587882" y="3330572"/>
            <a:ext cx="553998" cy="1472442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l-G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l-GR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弧形 2"/>
          <p:cNvSpPr/>
          <p:nvPr/>
        </p:nvSpPr>
        <p:spPr>
          <a:xfrm rot="2813707">
            <a:off x="3208008" y="3077158"/>
            <a:ext cx="2305050" cy="1971675"/>
          </a:xfrm>
          <a:prstGeom prst="arc">
            <a:avLst/>
          </a:prstGeom>
          <a:ln w="38100">
            <a:solidFill>
              <a:schemeClr val="accent6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弧形 3"/>
          <p:cNvSpPr/>
          <p:nvPr/>
        </p:nvSpPr>
        <p:spPr>
          <a:xfrm rot="14249132">
            <a:off x="2775481" y="3369506"/>
            <a:ext cx="2305050" cy="1971675"/>
          </a:xfrm>
          <a:prstGeom prst="arc">
            <a:avLst/>
          </a:prstGeom>
          <a:ln w="38100">
            <a:solidFill>
              <a:schemeClr val="accent6">
                <a:lumMod val="7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41908" y="3355842"/>
            <a:ext cx="615553" cy="166403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,m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l-GR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424476" y="3832122"/>
            <a:ext cx="804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96001" y="1187645"/>
            <a:ext cx="6019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Matchmaking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Encryption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544174" y="1664749"/>
            <a:ext cx="1571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This work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1155530" y="1982213"/>
            <a:ext cx="2263860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844283" y="1469837"/>
            <a:ext cx="827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A6EAA0AB-C545-FC80-8212-63DA6B628DCC}"/>
              </a:ext>
            </a:extLst>
          </p:cNvPr>
          <p:cNvSpPr/>
          <p:nvPr/>
        </p:nvSpPr>
        <p:spPr>
          <a:xfrm rot="2813707">
            <a:off x="2833715" y="3075210"/>
            <a:ext cx="2305050" cy="1971675"/>
          </a:xfrm>
          <a:prstGeom prst="arc">
            <a:avLst/>
          </a:prstGeom>
          <a:ln w="38100">
            <a:solidFill>
              <a:schemeClr val="accent5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908D05-BCE5-4F4A-ACF5-752A48890F09}"/>
              </a:ext>
            </a:extLst>
          </p:cNvPr>
          <p:cNvSpPr txBox="1"/>
          <p:nvPr/>
        </p:nvSpPr>
        <p:spPr>
          <a:xfrm>
            <a:off x="4828551" y="3865002"/>
            <a:ext cx="473693" cy="523220"/>
          </a:xfrm>
          <a:prstGeom prst="rect">
            <a:avLst/>
          </a:prstGeom>
          <a:solidFill>
            <a:srgbClr val="F0EAD7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EF69C632-AAE0-83FB-1483-F491EDB561A1}"/>
              </a:ext>
            </a:extLst>
          </p:cNvPr>
          <p:cNvSpPr/>
          <p:nvPr/>
        </p:nvSpPr>
        <p:spPr>
          <a:xfrm rot="14249132">
            <a:off x="3149632" y="3412280"/>
            <a:ext cx="2305050" cy="1971675"/>
          </a:xfrm>
          <a:prstGeom prst="arc">
            <a:avLst/>
          </a:prstGeom>
          <a:ln w="38100">
            <a:solidFill>
              <a:schemeClr val="accent5">
                <a:lumMod val="7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ADBA714-2CF4-4886-488F-F38D1121D93A}"/>
              </a:ext>
            </a:extLst>
          </p:cNvPr>
          <p:cNvSpPr txBox="1"/>
          <p:nvPr/>
        </p:nvSpPr>
        <p:spPr>
          <a:xfrm>
            <a:off x="2981781" y="3835917"/>
            <a:ext cx="620481" cy="523220"/>
          </a:xfrm>
          <a:prstGeom prst="rect">
            <a:avLst/>
          </a:prstGeom>
          <a:solidFill>
            <a:srgbClr val="F0EAD7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zh-CN" altLang="en-US" sz="1800" b="0" i="0" u="none" strike="noStrike" kern="1200" cap="none" spc="0" normalizeH="0" baseline="-5000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b="89818"/>
          <a:stretch>
            <a:fillRect/>
          </a:stretch>
        </p:blipFill>
        <p:spPr>
          <a:xfrm>
            <a:off x="3066311" y="4459824"/>
            <a:ext cx="7106128" cy="44691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27840" y="4999257"/>
            <a:ext cx="6774290" cy="1224546"/>
          </a:xfrm>
          <a:prstGeom prst="rect">
            <a:avLst/>
          </a:prstGeom>
        </p:spPr>
      </p:pic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04906" y="1396354"/>
          <a:ext cx="11182188" cy="1434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467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构造技术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rgbClr val="1F8D1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强可认证性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困难假设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本文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2-level </a:t>
                      </a:r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匿名</a:t>
                      </a:r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HIBE+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IBS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通用构造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rgbClr val="0C860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LWE+SIS</a:t>
                      </a:r>
                      <a:endParaRPr lang="zh-CN" altLang="en-US" sz="2400" b="1" kern="1200" dirty="0">
                        <a:solidFill>
                          <a:srgbClr val="0C860C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矩形: 圆角 19"/>
          <p:cNvSpPr/>
          <p:nvPr/>
        </p:nvSpPr>
        <p:spPr>
          <a:xfrm>
            <a:off x="1335951" y="3149208"/>
            <a:ext cx="10246759" cy="109795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提出了强可认证性的定义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53975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提出了基于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层匿名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HIBE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的通用构造，从而得到格上实例化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51" y="2905900"/>
            <a:ext cx="626600" cy="6266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DAE649-EA9B-40BF-9257-893287B746D4}"/>
              </a:ext>
            </a:extLst>
          </p:cNvPr>
          <p:cNvSpPr/>
          <p:nvPr/>
        </p:nvSpPr>
        <p:spPr>
          <a:xfrm>
            <a:off x="4320540" y="4459824"/>
            <a:ext cx="2103120" cy="4469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/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cxnSpLocks/>
          </p:cNvCxnSpPr>
          <p:nvPr/>
        </p:nvCxnSpPr>
        <p:spPr>
          <a:xfrm rot="16200000" flipH="1">
            <a:off x="4359059" y="2835468"/>
            <a:ext cx="847710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8550935" y="1263474"/>
            <a:ext cx="3641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Hierarchical </a:t>
            </a:r>
            <a:r>
              <a:rPr lang="en-US" altLang="zh-CN" sz="2800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IBE</a:t>
            </a:r>
            <a:r>
              <a:rPr lang="en-US" altLang="zh-CN" sz="2800" b="1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(HIBE)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B96AB2-023D-4455-A991-28AD402FC5AA}"/>
              </a:ext>
            </a:extLst>
          </p:cNvPr>
          <p:cNvSpPr txBox="1"/>
          <p:nvPr/>
        </p:nvSpPr>
        <p:spPr>
          <a:xfrm>
            <a:off x="5198871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0" lang="zh-CN" altLang="en-US" sz="2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62AB03E-8FAA-4B0B-873C-EEC33B5B6456}"/>
              </a:ext>
            </a:extLst>
          </p:cNvPr>
          <p:cNvCxnSpPr/>
          <p:nvPr/>
        </p:nvCxnSpPr>
        <p:spPr>
          <a:xfrm>
            <a:off x="6724665" y="4046985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D417D9D-269C-4FE9-A86A-92DBF0E205AD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HIBE</a:t>
            </a:r>
          </a:p>
        </p:txBody>
      </p:sp>
    </p:spTree>
    <p:extLst>
      <p:ext uri="{BB962C8B-B14F-4D97-AF65-F5344CB8AC3E}">
        <p14:creationId xmlns:p14="http://schemas.microsoft.com/office/powerpoint/2010/main" val="396048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1" y="3413670"/>
            <a:ext cx="377060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0" lang="zh-CN" altLang="en-US" sz="2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724665" y="4046985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cxnSpLocks/>
            <a:endCxn id="37" idx="1"/>
          </p:cNvCxnSpPr>
          <p:nvPr/>
        </p:nvCxnSpPr>
        <p:spPr>
          <a:xfrm rot="16200000" flipH="1">
            <a:off x="4359058" y="2835467"/>
            <a:ext cx="847712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8550935" y="1263474"/>
            <a:ext cx="3641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Hierarchical </a:t>
            </a:r>
            <a:r>
              <a:rPr lang="en-US" altLang="zh-CN" sz="2800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IBE (HIBE)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7AA765-B3BC-4DBF-B4E0-361E457F6B52}"/>
              </a:ext>
            </a:extLst>
          </p:cNvPr>
          <p:cNvSpPr txBox="1"/>
          <p:nvPr/>
        </p:nvSpPr>
        <p:spPr>
          <a:xfrm>
            <a:off x="7442932" y="4852565"/>
            <a:ext cx="446883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KeyDerive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1" i="0" u="none" strike="noStrike" kern="1200" cap="none" spc="0" normalizeH="0" baseline="-5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zh-CN" altLang="en-US" sz="2800" b="1" i="0" u="none" strike="noStrike" kern="1200" cap="none" spc="0" normalizeH="0" baseline="-5000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51595DF1-F0E9-4635-B9AB-61B1C63381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5457" y="5383683"/>
            <a:ext cx="847712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5E414F1E-5D50-4348-852C-8C790FF787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270" y="5662490"/>
            <a:ext cx="847712" cy="847712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C560258-FBB1-4903-84B3-2525650884BB}"/>
              </a:ext>
            </a:extLst>
          </p:cNvPr>
          <p:cNvCxnSpPr>
            <a:cxnSpLocks/>
          </p:cNvCxnSpPr>
          <p:nvPr/>
        </p:nvCxnSpPr>
        <p:spPr>
          <a:xfrm flipV="1">
            <a:off x="10320552" y="6160991"/>
            <a:ext cx="645929" cy="4942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AD7EF60-BCDA-4F92-A26E-2E86F74DCF82}"/>
              </a:ext>
            </a:extLst>
          </p:cNvPr>
          <p:cNvSpPr txBox="1"/>
          <p:nvPr/>
        </p:nvSpPr>
        <p:spPr>
          <a:xfrm>
            <a:off x="11074296" y="5899381"/>
            <a:ext cx="8374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…</a:t>
            </a:r>
            <a:endParaRPr kumimoji="0" lang="zh-CN" altLang="en-US" sz="2800" b="1" i="0" u="none" strike="noStrike" kern="1200" cap="none" spc="0" normalizeH="0" baseline="-5000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88CD2-3921-4A29-8FC8-44B6B2C5A19D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HIBE</a:t>
            </a:r>
          </a:p>
        </p:txBody>
      </p:sp>
    </p:spTree>
    <p:extLst>
      <p:ext uri="{BB962C8B-B14F-4D97-AF65-F5344CB8AC3E}">
        <p14:creationId xmlns:p14="http://schemas.microsoft.com/office/powerpoint/2010/main" val="4013727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5198871" y="3413670"/>
            <a:ext cx="143560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…</a:t>
            </a:r>
            <a:endParaRPr kumimoji="0" lang="zh-CN" altLang="en-US" sz="2800" b="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054105" y="396513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24" y="4765186"/>
            <a:ext cx="1100424" cy="1100424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63" name="连接符: 肘形 62"/>
          <p:cNvCxnSpPr>
            <a:cxnSpLocks/>
            <a:endCxn id="37" idx="1"/>
          </p:cNvCxnSpPr>
          <p:nvPr/>
        </p:nvCxnSpPr>
        <p:spPr>
          <a:xfrm rot="16200000" flipH="1">
            <a:off x="4359058" y="2835467"/>
            <a:ext cx="847712" cy="831914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8550935" y="1263474"/>
            <a:ext cx="3641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Hierarchical </a:t>
            </a:r>
            <a:r>
              <a:rPr lang="en-US" altLang="zh-CN" sz="2800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IBE (HIBE)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7AA765-B3BC-4DBF-B4E0-361E457F6B52}"/>
              </a:ext>
            </a:extLst>
          </p:cNvPr>
          <p:cNvSpPr txBox="1"/>
          <p:nvPr/>
        </p:nvSpPr>
        <p:spPr>
          <a:xfrm>
            <a:off x="5598882" y="6095863"/>
            <a:ext cx="118290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1" i="0" u="none" strike="noStrike" kern="1200" cap="none" spc="0" normalizeH="0" baseline="-5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zh-CN" altLang="en-US" sz="2800" b="1" i="0" u="none" strike="noStrike" kern="1200" cap="none" spc="0" normalizeH="0" baseline="-5000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6C29CB-1B91-48C8-BF03-FB3CF4DE3CF0}"/>
              </a:ext>
            </a:extLst>
          </p:cNvPr>
          <p:cNvSpPr txBox="1"/>
          <p:nvPr/>
        </p:nvSpPr>
        <p:spPr>
          <a:xfrm>
            <a:off x="2308269" y="1723894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216EAE-4D3C-4C04-BA75-C57857895199}"/>
              </a:ext>
            </a:extLst>
          </p:cNvPr>
          <p:cNvSpPr txBox="1"/>
          <p:nvPr/>
        </p:nvSpPr>
        <p:spPr>
          <a:xfrm>
            <a:off x="3597083" y="2949315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C1DA17C-68EF-4F95-BC3C-6A16E1588888}"/>
              </a:ext>
            </a:extLst>
          </p:cNvPr>
          <p:cNvCxnSpPr/>
          <p:nvPr/>
        </p:nvCxnSpPr>
        <p:spPr>
          <a:xfrm>
            <a:off x="1681162" y="4406900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ABF32D51-1D88-43B8-836D-8687F97804A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4" y="3227742"/>
            <a:ext cx="1023935" cy="1023935"/>
          </a:xfrm>
          <a:prstGeom prst="rect">
            <a:avLst/>
          </a:prstGeom>
        </p:spPr>
      </p:pic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80175499-E89B-4685-9644-A91567930A28}"/>
              </a:ext>
            </a:extLst>
          </p:cNvPr>
          <p:cNvCxnSpPr/>
          <p:nvPr/>
        </p:nvCxnSpPr>
        <p:spPr>
          <a:xfrm rot="10800000" flipV="1">
            <a:off x="1681162" y="2234280"/>
            <a:ext cx="1938338" cy="896211"/>
          </a:xfrm>
          <a:prstGeom prst="bentConnector3">
            <a:avLst>
              <a:gd name="adj1" fmla="val 9914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BA106AD-6AC3-41EE-95A2-6BAD8793CA9F}"/>
              </a:ext>
            </a:extLst>
          </p:cNvPr>
          <p:cNvSpPr txBox="1"/>
          <p:nvPr/>
        </p:nvSpPr>
        <p:spPr>
          <a:xfrm>
            <a:off x="427912" y="5226707"/>
            <a:ext cx="4156483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id’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|id’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8A521DA-9DC5-4099-A7A8-56B747F8C300}"/>
              </a:ext>
            </a:extLst>
          </p:cNvPr>
          <p:cNvCxnSpPr>
            <a:cxnSpLocks/>
          </p:cNvCxnSpPr>
          <p:nvPr/>
        </p:nvCxnSpPr>
        <p:spPr>
          <a:xfrm>
            <a:off x="4608238" y="5517648"/>
            <a:ext cx="990644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C69B64A-7915-45E9-BBDF-5AB8878AA530}"/>
              </a:ext>
            </a:extLst>
          </p:cNvPr>
          <p:cNvSpPr txBox="1"/>
          <p:nvPr/>
        </p:nvSpPr>
        <p:spPr>
          <a:xfrm>
            <a:off x="4853925" y="4994428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2D6817E-8644-4CC4-99E4-584EA8AF3776}"/>
              </a:ext>
            </a:extLst>
          </p:cNvPr>
          <p:cNvSpPr txBox="1"/>
          <p:nvPr/>
        </p:nvSpPr>
        <p:spPr>
          <a:xfrm>
            <a:off x="7026373" y="5071306"/>
            <a:ext cx="4068347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Dec(sk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0" i="0" u="none" strike="noStrike" kern="1200" cap="none" spc="0" normalizeH="0" baseline="-5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kumimoji="0" lang="en-US" altLang="zh-CN" sz="2000" b="1" i="0" u="none" strike="noStrike" kern="1200" cap="none" spc="0" normalizeH="0" baseline="-5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 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CEFCDC7-4CD5-4C0F-8CA4-F642798BD156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HIBE</a:t>
            </a:r>
          </a:p>
        </p:txBody>
      </p:sp>
    </p:spTree>
    <p:extLst>
      <p:ext uri="{BB962C8B-B14F-4D97-AF65-F5344CB8AC3E}">
        <p14:creationId xmlns:p14="http://schemas.microsoft.com/office/powerpoint/2010/main" val="4164301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CB9163-A784-4E21-93BD-B6F3CB442C41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39D3825-1948-4FE8-9D9F-CF564577E474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39D3825-1948-4FE8-9D9F-CF564577E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5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326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CB9163-A784-4E21-93BD-B6F3CB442C41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53029"/>
                <a:ext cx="4650008" cy="54341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8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HIBE.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53029"/>
                <a:ext cx="4650008" cy="543418"/>
              </a:xfrm>
              <a:prstGeom prst="rect">
                <a:avLst/>
              </a:prstGeom>
              <a:blipFill>
                <a:blip r:embed="rId3"/>
                <a:stretch>
                  <a:fillRect l="-2752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92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359968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A8565B-D175-4929-B474-347048B03795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4123464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EE7D860-C4D3-42C0-9561-AF7B66DBB2E8}"/>
              </a:ext>
            </a:extLst>
          </p:cNvPr>
          <p:cNvSpPr txBox="1"/>
          <p:nvPr/>
        </p:nvSpPr>
        <p:spPr>
          <a:xfrm>
            <a:off x="5198872" y="3413670"/>
            <a:ext cx="5123688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i="0" u="none" strike="noStrike" kern="1200" cap="none" spc="0" normalizeH="0" baseline="-5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5D1DDE5-BF02-4E23-8ABE-6A9A7EC4E5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955" y="2960748"/>
            <a:ext cx="626600" cy="6266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62B3F5D-7E96-4C70-AF09-4358B2F9C154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3266162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b="1" u="none" strike="noStrike" kern="1200" cap="none" spc="0" normalizeH="0" baseline="-250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1AE057-D7D0-43EB-A13C-52360907DCE8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236207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3BCDEAE-7191-4A83-B3E8-56D6D846C434}"/>
              </a:ext>
            </a:extLst>
          </p:cNvPr>
          <p:cNvSpPr txBox="1"/>
          <p:nvPr/>
        </p:nvSpPr>
        <p:spPr>
          <a:xfrm>
            <a:off x="522753" y="3754749"/>
            <a:ext cx="3445213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9B8F9A-153B-43AB-876E-DE92FF440D8F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3726359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5B673-6CB1-4E5F-A07D-23E6B6A5CCFC}"/>
              </a:ext>
            </a:extLst>
          </p:cNvPr>
          <p:cNvSpPr txBox="1"/>
          <p:nvPr/>
        </p:nvSpPr>
        <p:spPr>
          <a:xfrm>
            <a:off x="275499" y="3783120"/>
            <a:ext cx="393972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B45F6F-CDB8-49C5-90B9-4E5A559A0564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4292784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5B673-6CB1-4E5F-A07D-23E6B6A5CCFC}"/>
              </a:ext>
            </a:extLst>
          </p:cNvPr>
          <p:cNvSpPr txBox="1"/>
          <p:nvPr/>
        </p:nvSpPr>
        <p:spPr>
          <a:xfrm>
            <a:off x="275499" y="3783120"/>
            <a:ext cx="393972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endParaRPr kumimoji="0" lang="zh-CN" altLang="en-US" sz="280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20758A-D54D-407D-BB9C-4801E343C248}"/>
              </a:ext>
            </a:extLst>
          </p:cNvPr>
          <p:cNvSpPr txBox="1"/>
          <p:nvPr/>
        </p:nvSpPr>
        <p:spPr>
          <a:xfrm>
            <a:off x="275499" y="5986230"/>
            <a:ext cx="415451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41C56F-E13F-4334-948C-AD04149D07BB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733547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5B673-6CB1-4E5F-A07D-23E6B6A5CCFC}"/>
              </a:ext>
            </a:extLst>
          </p:cNvPr>
          <p:cNvSpPr txBox="1"/>
          <p:nvPr/>
        </p:nvSpPr>
        <p:spPr>
          <a:xfrm>
            <a:off x="275499" y="3783120"/>
            <a:ext cx="393972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endParaRPr kumimoji="0" lang="zh-CN" altLang="en-US" sz="280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20758A-D54D-407D-BB9C-4801E343C248}"/>
              </a:ext>
            </a:extLst>
          </p:cNvPr>
          <p:cNvSpPr txBox="1"/>
          <p:nvPr/>
        </p:nvSpPr>
        <p:spPr>
          <a:xfrm>
            <a:off x="275499" y="5986230"/>
            <a:ext cx="5393781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HIBE.Enc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HIBE.ct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161BB0-68E3-493E-B7D2-2C68EB56BB86}"/>
              </a:ext>
            </a:extLst>
          </p:cNvPr>
          <p:cNvCxnSpPr>
            <a:cxnSpLocks/>
          </p:cNvCxnSpPr>
          <p:nvPr/>
        </p:nvCxnSpPr>
        <p:spPr>
          <a:xfrm flipV="1">
            <a:off x="5716455" y="5887752"/>
            <a:ext cx="531255" cy="279368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ADA2205-F5BD-47F3-BBDE-98E346022C77}"/>
              </a:ext>
            </a:extLst>
          </p:cNvPr>
          <p:cNvSpPr txBox="1"/>
          <p:nvPr/>
        </p:nvSpPr>
        <p:spPr>
          <a:xfrm>
            <a:off x="5574269" y="5406316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32EC42-33D1-4ADE-A908-A2840B110256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3960022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5B673-6CB1-4E5F-A07D-23E6B6A5CCFC}"/>
              </a:ext>
            </a:extLst>
          </p:cNvPr>
          <p:cNvSpPr txBox="1"/>
          <p:nvPr/>
        </p:nvSpPr>
        <p:spPr>
          <a:xfrm>
            <a:off x="275499" y="3783120"/>
            <a:ext cx="393972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endParaRPr kumimoji="0" lang="zh-CN" altLang="en-US" sz="280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20758A-D54D-407D-BB9C-4801E343C248}"/>
              </a:ext>
            </a:extLst>
          </p:cNvPr>
          <p:cNvSpPr txBox="1"/>
          <p:nvPr/>
        </p:nvSpPr>
        <p:spPr>
          <a:xfrm>
            <a:off x="275499" y="5986230"/>
            <a:ext cx="48077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161BB0-68E3-493E-B7D2-2C68EB56BB86}"/>
              </a:ext>
            </a:extLst>
          </p:cNvPr>
          <p:cNvCxnSpPr>
            <a:cxnSpLocks/>
          </p:cNvCxnSpPr>
          <p:nvPr/>
        </p:nvCxnSpPr>
        <p:spPr>
          <a:xfrm flipV="1">
            <a:off x="5198872" y="5754105"/>
            <a:ext cx="1048838" cy="52322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ADA2205-F5BD-47F3-BBDE-98E346022C77}"/>
              </a:ext>
            </a:extLst>
          </p:cNvPr>
          <p:cNvSpPr txBox="1"/>
          <p:nvPr/>
        </p:nvSpPr>
        <p:spPr>
          <a:xfrm>
            <a:off x="5265205" y="5492495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2BF0FB-3443-428A-90A9-5B8AD70EB89C}"/>
              </a:ext>
            </a:extLst>
          </p:cNvPr>
          <p:cNvSpPr txBox="1"/>
          <p:nvPr/>
        </p:nvSpPr>
        <p:spPr>
          <a:xfrm>
            <a:off x="7618951" y="4544787"/>
            <a:ext cx="4506373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KeyDerive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b="1" u="none" strike="noStrike" kern="120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400" b="1" u="none" strike="noStrike" kern="1200" cap="none" spc="0" normalizeH="0" baseline="-2500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endParaRPr kumimoji="0" lang="zh-CN" altLang="en-US" sz="2400" b="1" u="none" strike="noStrike" kern="1200" cap="none" spc="0" normalizeH="0" baseline="-500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CFFA8C-E481-4528-B56B-BA0A89D419E5}"/>
              </a:ext>
            </a:extLst>
          </p:cNvPr>
          <p:cNvSpPr txBox="1"/>
          <p:nvPr/>
        </p:nvSpPr>
        <p:spPr>
          <a:xfrm>
            <a:off x="7666256" y="5678453"/>
            <a:ext cx="4506373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b="1" u="none" strike="noStrike" kern="120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400" b="1" u="none" strike="noStrike" kern="1200" cap="none" spc="0" normalizeH="0" baseline="-2500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or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⊥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endParaRPr kumimoji="0" lang="zh-CN" altLang="en-US" sz="2400" b="1" u="none" strike="noStrike" kern="1200" cap="none" spc="0" normalizeH="0" baseline="-500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C9F638-9158-4765-8714-BCFE90182E6A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430068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93362F-DD42-4065-BE9F-B8866D97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D5639983-81E8-43EA-91CA-F4ACF89000CB}"/>
              </a:ext>
            </a:extLst>
          </p:cNvPr>
          <p:cNvSpPr txBox="1"/>
          <p:nvPr/>
        </p:nvSpPr>
        <p:spPr>
          <a:xfrm>
            <a:off x="5198872" y="3413670"/>
            <a:ext cx="4747768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=HIBE.sk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endParaRPr kumimoji="0" lang="zh-CN" altLang="en-US" sz="280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2AE4412-71F7-4889-B4CA-560DAB1B9B5A}"/>
              </a:ext>
            </a:extLst>
          </p:cNvPr>
          <p:cNvCxnSpPr/>
          <p:nvPr/>
        </p:nvCxnSpPr>
        <p:spPr>
          <a:xfrm>
            <a:off x="6828837" y="4016359"/>
            <a:ext cx="0" cy="60962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79CB02C-DA88-49CE-AD95-0196A1449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289C9E-3C7A-4570-95C1-27B939D4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0" y="4735856"/>
            <a:ext cx="1279859" cy="127985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CB794C5-14FE-430D-A526-DF1A37075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D04D1C1-C43D-4DBB-9B93-B53BF0DD21E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359058" y="2835466"/>
            <a:ext cx="847710" cy="83191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FF63A31-1877-4F3A-847C-EB5CDEDEACC4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069A6-2E4A-494B-A53D-12EA250B3E37}"/>
              </a:ext>
            </a:extLst>
          </p:cNvPr>
          <p:cNvSpPr txBox="1"/>
          <p:nvPr/>
        </p:nvSpPr>
        <p:spPr>
          <a:xfrm>
            <a:off x="3531395" y="2812383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52FCBC-3CA2-4064-94D3-C0258B015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0" y="4863817"/>
            <a:ext cx="1023935" cy="1023935"/>
          </a:xfrm>
          <a:prstGeom prst="rect">
            <a:avLst/>
          </a:prstGeom>
        </p:spPr>
      </p:pic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705440-436D-48FD-A667-807162F1FDC7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437289" y="3313091"/>
            <a:ext cx="1938341" cy="1550726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5B673-6CB1-4E5F-A07D-23E6B6A5CCFC}"/>
              </a:ext>
            </a:extLst>
          </p:cNvPr>
          <p:cNvSpPr txBox="1"/>
          <p:nvPr/>
        </p:nvSpPr>
        <p:spPr>
          <a:xfrm>
            <a:off x="275499" y="3783120"/>
            <a:ext cx="393972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SKGen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kumimoji="0" lang="el-GR" altLang="zh-CN" sz="280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endParaRPr kumimoji="0" lang="zh-CN" altLang="en-US" sz="280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161BB0-68E3-493E-B7D2-2C68EB56BB86}"/>
              </a:ext>
            </a:extLst>
          </p:cNvPr>
          <p:cNvCxnSpPr>
            <a:cxnSpLocks/>
          </p:cNvCxnSpPr>
          <p:nvPr/>
        </p:nvCxnSpPr>
        <p:spPr>
          <a:xfrm flipV="1">
            <a:off x="5198872" y="5754105"/>
            <a:ext cx="1048838" cy="52322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ADA2205-F5BD-47F3-BBDE-98E346022C77}"/>
              </a:ext>
            </a:extLst>
          </p:cNvPr>
          <p:cNvSpPr txBox="1"/>
          <p:nvPr/>
        </p:nvSpPr>
        <p:spPr>
          <a:xfrm>
            <a:off x="5265205" y="5492495"/>
            <a:ext cx="531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2BF0FB-3443-428A-90A9-5B8AD70EB89C}"/>
              </a:ext>
            </a:extLst>
          </p:cNvPr>
          <p:cNvSpPr txBox="1"/>
          <p:nvPr/>
        </p:nvSpPr>
        <p:spPr>
          <a:xfrm>
            <a:off x="7618951" y="4544787"/>
            <a:ext cx="4506373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KeyDerive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40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endParaRPr kumimoji="0" lang="zh-CN" altLang="en-US" sz="2400" u="none" strike="noStrike" kern="1200" cap="none" spc="0" normalizeH="0" baseline="-5000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CFFA8C-E481-4528-B56B-BA0A89D419E5}"/>
              </a:ext>
            </a:extLst>
          </p:cNvPr>
          <p:cNvSpPr txBox="1"/>
          <p:nvPr/>
        </p:nvSpPr>
        <p:spPr>
          <a:xfrm>
            <a:off x="7666256" y="5678453"/>
            <a:ext cx="4506373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HIBE.sk</a:t>
            </a:r>
            <a:r>
              <a:rPr kumimoji="0" lang="el-GR" altLang="zh-CN" sz="2400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kumimoji="0" lang="en-US" altLang="zh-CN" sz="240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n-US" altLang="zh-CN" sz="240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snd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</a:t>
            </a:r>
            <a:endParaRPr kumimoji="0" lang="zh-CN" altLang="en-US" sz="2400" b="1" u="none" strike="noStrike" kern="1200" cap="none" spc="0" normalizeH="0" baseline="-500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30EB44-DA03-4684-A7C0-7EB69426E581}"/>
              </a:ext>
            </a:extLst>
          </p:cNvPr>
          <p:cNvSpPr/>
          <p:nvPr/>
        </p:nvSpPr>
        <p:spPr>
          <a:xfrm>
            <a:off x="10110552" y="5918679"/>
            <a:ext cx="715472" cy="27062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0F1620-94FF-4D62-B4F8-068852956C94}"/>
              </a:ext>
            </a:extLst>
          </p:cNvPr>
          <p:cNvSpPr txBox="1"/>
          <p:nvPr/>
        </p:nvSpPr>
        <p:spPr>
          <a:xfrm>
            <a:off x="275499" y="5986230"/>
            <a:ext cx="5393781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HIBE.Enc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rcv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0" lang="el-GR" altLang="zh-CN" sz="2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HIBE.ct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CC0E16-AE1C-4758-B3D3-079642B3EEF0}"/>
              </a:ext>
            </a:extLst>
          </p:cNvPr>
          <p:cNvSpPr/>
          <p:nvPr/>
        </p:nvSpPr>
        <p:spPr>
          <a:xfrm>
            <a:off x="2477505" y="5918679"/>
            <a:ext cx="1023935" cy="6762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302B5E2-D2DB-4850-AE68-DBF2F0DD87EF}"/>
              </a:ext>
            </a:extLst>
          </p:cNvPr>
          <p:cNvSpPr txBox="1"/>
          <p:nvPr/>
        </p:nvSpPr>
        <p:spPr>
          <a:xfrm>
            <a:off x="7946446" y="3936890"/>
            <a:ext cx="3271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=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rcv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snd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=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ϕ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8D1C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8D1C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71FF7EC-E704-4253-9E4E-374B88A45C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7944" y="3783252"/>
            <a:ext cx="658865" cy="658865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F60EBAD0-3290-43D2-B06A-2453AE77291F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|Step 1: IB-ME from HIBE</a:t>
            </a:r>
          </a:p>
        </p:txBody>
      </p:sp>
    </p:spTree>
    <p:extLst>
      <p:ext uri="{BB962C8B-B14F-4D97-AF65-F5344CB8AC3E}">
        <p14:creationId xmlns:p14="http://schemas.microsoft.com/office/powerpoint/2010/main" val="3877602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b="89818"/>
          <a:stretch>
            <a:fillRect/>
          </a:stretch>
        </p:blipFill>
        <p:spPr>
          <a:xfrm>
            <a:off x="3066311" y="4459824"/>
            <a:ext cx="7106128" cy="44691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27840" y="4999257"/>
            <a:ext cx="6774290" cy="1224546"/>
          </a:xfrm>
          <a:prstGeom prst="rect">
            <a:avLst/>
          </a:prstGeom>
        </p:spPr>
      </p:pic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04906" y="1396354"/>
          <a:ext cx="11182188" cy="1434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467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构造技术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rgbClr val="1F8D1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强可认证性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困难假设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本文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2-level </a:t>
                      </a:r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匿名</a:t>
                      </a:r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HIBE+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IBS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通用构造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rgbClr val="0C860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LWE+SIS</a:t>
                      </a:r>
                      <a:endParaRPr lang="zh-CN" altLang="en-US" sz="2400" b="1" kern="1200" dirty="0">
                        <a:solidFill>
                          <a:srgbClr val="0C860C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矩形: 圆角 19"/>
          <p:cNvSpPr/>
          <p:nvPr/>
        </p:nvSpPr>
        <p:spPr>
          <a:xfrm>
            <a:off x="1335951" y="3149208"/>
            <a:ext cx="10246759" cy="109795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提出了强可认证性的定义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53975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提出了基于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层匿名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HIBE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的通用构造，从而得到格上实例化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51" y="2905900"/>
            <a:ext cx="626600" cy="6266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DAE649-EA9B-40BF-9257-893287B746D4}"/>
              </a:ext>
            </a:extLst>
          </p:cNvPr>
          <p:cNvSpPr/>
          <p:nvPr/>
        </p:nvSpPr>
        <p:spPr>
          <a:xfrm>
            <a:off x="7520940" y="4999257"/>
            <a:ext cx="2476500" cy="4469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092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6159501" y="3258771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8029" y="3072862"/>
            <a:ext cx="343077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42870" y="1705261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>
            <a:cxnSpLocks/>
          </p:cNvCxnSpPr>
          <p:nvPr/>
        </p:nvCxnSpPr>
        <p:spPr>
          <a:xfrm>
            <a:off x="6021117" y="2543909"/>
            <a:ext cx="0" cy="186843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94747" y="5847001"/>
            <a:ext cx="260565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lang="el-GR" altLang="zh-CN" sz="2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2800" i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2271039" y="3656579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288318" y="5117895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3826925" y="4412339"/>
            <a:ext cx="1279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288" y="4376139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815" y="4504100"/>
            <a:ext cx="1023935" cy="1023935"/>
          </a:xfrm>
          <a:prstGeom prst="rect">
            <a:avLst/>
          </a:prstGeom>
        </p:spPr>
      </p:pic>
      <p:cxnSp>
        <p:nvCxnSpPr>
          <p:cNvPr id="61" name="连接符: 肘形 60"/>
          <p:cNvCxnSpPr>
            <a:cxnSpLocks/>
            <a:endCxn id="37" idx="0"/>
          </p:cNvCxnSpPr>
          <p:nvPr/>
        </p:nvCxnSpPr>
        <p:spPr>
          <a:xfrm rot="10800000" flipV="1">
            <a:off x="2243418" y="2232804"/>
            <a:ext cx="1577004" cy="84005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251475" y="5788184"/>
            <a:ext cx="4349726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0/1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60335" y="1253773"/>
            <a:ext cx="4528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dentity-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ased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ignature (IBS)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325F92-B8B6-4A26-8E8A-C49B6A8E621D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IBS</a:t>
            </a:r>
          </a:p>
        </p:txBody>
      </p:sp>
    </p:spTree>
    <p:extLst>
      <p:ext uri="{BB962C8B-B14F-4D97-AF65-F5344CB8AC3E}">
        <p14:creationId xmlns:p14="http://schemas.microsoft.com/office/powerpoint/2010/main" val="2864873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6159501" y="3258771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8029" y="3072862"/>
            <a:ext cx="343077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42870" y="1705261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>
            <a:cxnSpLocks/>
          </p:cNvCxnSpPr>
          <p:nvPr/>
        </p:nvCxnSpPr>
        <p:spPr>
          <a:xfrm>
            <a:off x="6021117" y="2543909"/>
            <a:ext cx="0" cy="186843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94747" y="5847001"/>
            <a:ext cx="260565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lang="el-GR" altLang="zh-CN" sz="2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2800" i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2271039" y="3656579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288318" y="5117895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3826925" y="4412339"/>
            <a:ext cx="1279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288" y="4376139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815" y="4504100"/>
            <a:ext cx="1023935" cy="1023935"/>
          </a:xfrm>
          <a:prstGeom prst="rect">
            <a:avLst/>
          </a:prstGeom>
        </p:spPr>
      </p:pic>
      <p:cxnSp>
        <p:nvCxnSpPr>
          <p:cNvPr id="61" name="连接符: 肘形 60"/>
          <p:cNvCxnSpPr>
            <a:cxnSpLocks/>
            <a:endCxn id="37" idx="0"/>
          </p:cNvCxnSpPr>
          <p:nvPr/>
        </p:nvCxnSpPr>
        <p:spPr>
          <a:xfrm rot="10800000" flipV="1">
            <a:off x="2243418" y="2232804"/>
            <a:ext cx="1577004" cy="84005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251475" y="5788184"/>
            <a:ext cx="4349726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0/1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60335" y="1253773"/>
            <a:ext cx="4528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Signature (IBS)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B0AE9E-6E36-4A9B-B6C6-6E7C9BCDDA59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2B53AA-31CD-4A62-92D7-B1A29BAE2F47}"/>
              </a:ext>
            </a:extLst>
          </p:cNvPr>
          <p:cNvSpPr txBox="1"/>
          <p:nvPr/>
        </p:nvSpPr>
        <p:spPr>
          <a:xfrm>
            <a:off x="7095332" y="4489283"/>
            <a:ext cx="471810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Correctness: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合法生成的签名可以被验签通过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584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Setup(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ja-JP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λ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→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msk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3" y="1983509"/>
                <a:ext cx="3886200" cy="543418"/>
              </a:xfrm>
              <a:prstGeom prst="rect">
                <a:avLst/>
              </a:prstGeom>
              <a:blipFill>
                <a:blip r:embed="rId3"/>
                <a:stretch>
                  <a:fillRect l="-3297" t="-777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6159501" y="3258771"/>
            <a:ext cx="935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8029" y="3072862"/>
            <a:ext cx="343077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KeyGen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42870" y="1705261"/>
            <a:ext cx="1023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msk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>
            <a:cxnSpLocks/>
          </p:cNvCxnSpPr>
          <p:nvPr/>
        </p:nvCxnSpPr>
        <p:spPr>
          <a:xfrm>
            <a:off x="6021117" y="2543909"/>
            <a:ext cx="0" cy="186843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94747" y="5847001"/>
            <a:ext cx="260565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 </a:t>
            </a:r>
            <a:r>
              <a:rPr lang="el-GR" altLang="zh-CN" sz="2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2800" i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2271039" y="3656579"/>
            <a:ext cx="0" cy="71956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288318" y="5117895"/>
            <a:ext cx="227549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3826925" y="4412339"/>
            <a:ext cx="1279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31" y="1600233"/>
            <a:ext cx="1124852" cy="112485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288" y="4376139"/>
            <a:ext cx="1279859" cy="127985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815" y="4504100"/>
            <a:ext cx="1023935" cy="1023935"/>
          </a:xfrm>
          <a:prstGeom prst="rect">
            <a:avLst/>
          </a:prstGeom>
        </p:spPr>
      </p:pic>
      <p:cxnSp>
        <p:nvCxnSpPr>
          <p:cNvPr id="61" name="连接符: 肘形 60"/>
          <p:cNvCxnSpPr>
            <a:cxnSpLocks/>
            <a:endCxn id="37" idx="0"/>
          </p:cNvCxnSpPr>
          <p:nvPr/>
        </p:nvCxnSpPr>
        <p:spPr>
          <a:xfrm rot="10800000" flipV="1">
            <a:off x="2243418" y="2232804"/>
            <a:ext cx="1577004" cy="840058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06509" y="1295224"/>
            <a:ext cx="320896" cy="32089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251475" y="5788184"/>
            <a:ext cx="4349726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l-GR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id, m)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0/1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60335" y="1253773"/>
            <a:ext cx="4528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Identity-based Signature (IBS)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B0AE9E-6E36-4A9B-B6C6-6E7C9BCDDA59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回顾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2B53AA-31CD-4A62-92D7-B1A29BAE2F47}"/>
              </a:ext>
            </a:extLst>
          </p:cNvPr>
          <p:cNvSpPr txBox="1"/>
          <p:nvPr/>
        </p:nvSpPr>
        <p:spPr>
          <a:xfrm>
            <a:off x="7095332" y="4489283"/>
            <a:ext cx="509666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cs typeface="Calibri" panose="020F0502020204030204" pitchFamily="34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cs typeface="Calibri" panose="020F0502020204030204" pitchFamily="34" charset="0"/>
              </a:rPr>
              <a:t>不可伪造性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cs typeface="Calibri" panose="020F0502020204030204" pitchFamily="34" charset="0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  <a:endParaRPr lang="en-US" altLang="zh-CN" sz="2400" dirty="0">
              <a:solidFill>
                <a:srgbClr val="C00000"/>
              </a:solidFill>
              <a:latin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没有对应的私钥，就无法伪造能通过验签的签名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904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8802937D-22C6-4DA4-A845-93850A22BBF4}"/>
              </a:ext>
            </a:extLst>
          </p:cNvPr>
          <p:cNvSpPr txBox="1"/>
          <p:nvPr/>
        </p:nvSpPr>
        <p:spPr>
          <a:xfrm>
            <a:off x="441169" y="2175982"/>
            <a:ext cx="10912150" cy="36578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BADAC6-8F7A-4460-A916-A3C41669F76E}"/>
              </a:ext>
            </a:extLst>
          </p:cNvPr>
          <p:cNvSpPr/>
          <p:nvPr/>
        </p:nvSpPr>
        <p:spPr>
          <a:xfrm>
            <a:off x="85725" y="89500"/>
            <a:ext cx="12039599" cy="109795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本文的工作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|</a:t>
            </a:r>
            <a:r>
              <a:rPr lang="en-US" altLang="zh-CN" sz="2400" b="1" dirty="0">
                <a:solidFill>
                  <a:srgbClr val="980000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Step 2: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IB-ME from HIBE + IBS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CA9B3B-78DC-4CEE-9B0B-82CAE081E6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b="92504"/>
          <a:stretch/>
        </p:blipFill>
        <p:spPr>
          <a:xfrm>
            <a:off x="602294" y="2434457"/>
            <a:ext cx="6092889" cy="3859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0BF4A6-3D88-485C-A138-34C02A78B6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t="63068" r="26155"/>
          <a:stretch/>
        </p:blipFill>
        <p:spPr>
          <a:xfrm>
            <a:off x="5620035" y="3618759"/>
            <a:ext cx="4499325" cy="19015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147D6A9-E5FD-49B1-A5BD-9E37EF1390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t="8408" b="82515"/>
          <a:stretch/>
        </p:blipFill>
        <p:spPr>
          <a:xfrm>
            <a:off x="5260430" y="2418145"/>
            <a:ext cx="6092889" cy="4673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907B0B-B8AE-40EC-8B2D-0061F5F4EE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t="18431" b="73675"/>
          <a:stretch/>
        </p:blipFill>
        <p:spPr>
          <a:xfrm>
            <a:off x="602293" y="3049074"/>
            <a:ext cx="6092889" cy="4064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0D37095-5603-4B6D-9DAE-594CED3700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EAD7"/>
              </a:clrFrom>
              <a:clrTo>
                <a:srgbClr val="F0EAD7">
                  <a:alpha val="0"/>
                </a:srgbClr>
              </a:clrTo>
            </a:clrChange>
          </a:blip>
          <a:srcRect t="26045" b="37251"/>
          <a:stretch/>
        </p:blipFill>
        <p:spPr>
          <a:xfrm>
            <a:off x="602292" y="3643492"/>
            <a:ext cx="6092889" cy="188976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609BC3A5-B964-4AB1-820C-008E10F276D6}"/>
              </a:ext>
            </a:extLst>
          </p:cNvPr>
          <p:cNvGrpSpPr/>
          <p:nvPr/>
        </p:nvGrpSpPr>
        <p:grpSpPr>
          <a:xfrm>
            <a:off x="9959341" y="5923500"/>
            <a:ext cx="1416839" cy="553998"/>
            <a:chOff x="8610600" y="1598071"/>
            <a:chExt cx="2489939" cy="553998"/>
          </a:xfrm>
        </p:grpSpPr>
        <p:sp>
          <p:nvSpPr>
            <p:cNvPr id="14" name="圆角矩形 25">
              <a:extLst>
                <a:ext uri="{FF2B5EF4-FFF2-40B4-BE49-F238E27FC236}">
                  <a16:creationId xmlns:a16="http://schemas.microsoft.com/office/drawing/2014/main" id="{1888D47D-427A-4ECD-A83D-EDF97F250E39}"/>
                </a:ext>
              </a:extLst>
            </p:cNvPr>
            <p:cNvSpPr/>
            <p:nvPr/>
          </p:nvSpPr>
          <p:spPr>
            <a:xfrm>
              <a:off x="8610600" y="1648876"/>
              <a:ext cx="2449763" cy="503193"/>
            </a:xfrm>
            <a:prstGeom prst="roundRect">
              <a:avLst/>
            </a:prstGeom>
            <a:solidFill>
              <a:srgbClr val="EEEAF2"/>
            </a:solidFill>
            <a:ln w="25400"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AD93109-4C26-4ED5-AEC5-35A7D40DE4FB}"/>
                </a:ext>
              </a:extLst>
            </p:cNvPr>
            <p:cNvSpPr/>
            <p:nvPr/>
          </p:nvSpPr>
          <p:spPr>
            <a:xfrm>
              <a:off x="8730841" y="1598071"/>
              <a:ext cx="2369698" cy="5071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+mn-ea"/>
                  <a:cs typeface="Calibri" panose="020F0502020204030204" pitchFamily="34" charset="0"/>
                </a:rPr>
                <a:t>通用构造</a:t>
              </a:r>
              <a:endParaRPr lang="en-US" altLang="zh-CN" sz="2000" dirty="0">
                <a:latin typeface="+mn-ea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7769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4090</Words>
  <Application>Microsoft Office PowerPoint</Application>
  <PresentationFormat>宽屏</PresentationFormat>
  <Paragraphs>391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等线</vt:lpstr>
      <vt:lpstr>等线 Light</vt:lpstr>
      <vt:lpstr>Arial</vt:lpstr>
      <vt:lpstr>Calibri</vt:lpstr>
      <vt:lpstr>Cambria Math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Yuejun Wang</dc:creator>
  <cp:lastModifiedBy>Yuejun Wang</cp:lastModifiedBy>
  <cp:revision>124</cp:revision>
  <dcterms:created xsi:type="dcterms:W3CDTF">2026-09-02T13:21:10Z</dcterms:created>
  <dcterms:modified xsi:type="dcterms:W3CDTF">2026-09-02T15:39:25Z</dcterms:modified>
</cp:coreProperties>
</file>